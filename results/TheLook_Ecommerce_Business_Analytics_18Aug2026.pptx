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583A"/>
    <a:srgbClr val="F6F2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942" y="-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2E2A26"/>
                </a:solidFill>
                <a:latin typeface="Calibri"/>
              </a:defRPr>
            </a:pPr>
            <a:r>
              <a:rPr lang="en-IN" sz="1300" b="1" i="0" u="none" strike="noStrike">
                <a:solidFill>
                  <a:srgbClr val="2E2A26"/>
                </a:solidFill>
                <a:latin typeface="Calibri"/>
              </a:rPr>
              <a:t>Avg. Revenue per Customer ($)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Revenue per Customer</c:v>
                </c:pt>
              </c:strCache>
            </c:strRef>
          </c:tx>
          <c:spPr>
            <a:solidFill>
              <a:srgbClr val="E2583A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C7D14DD0-AE50-47FD-8046-741D99178873}" type="VALUE">
                      <a:rPr lang="en-US" smtClean="0"/>
                      <a:pPr/>
                      <a:t>[VALUE]</a:t>
                    </a:fld>
                    <a:r>
                      <a:rPr lang="en-US"/>
                      <a:t>.5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6E5B-4E30-ADF6-56CEF6308BE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BB5C6A6-A740-4DEB-948E-C209D5B2C732}" type="VALUE">
                      <a:rPr lang="en-US" smtClean="0"/>
                      <a:pPr/>
                      <a:t>[VALUE]</a:t>
                    </a:fld>
                    <a:r>
                      <a:rPr lang="en-US"/>
                      <a:t>.4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6E5B-4E30-ADF6-56CEF6308BE6}"/>
                </c:ext>
              </c:extLst>
            </c:dLbl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2E2A2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Repeat
Customers</c:v>
                </c:pt>
                <c:pt idx="1">
                  <c:v>One-Time
Customers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216.49</c:v>
                </c:pt>
                <c:pt idx="1">
                  <c:v>86.36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5B-4E30-ADF6-56CEF6308B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6B645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2E2A26"/>
                </a:solidFill>
                <a:latin typeface="Calibri"/>
              </a:defRPr>
            </a:pPr>
            <a:r>
              <a:rPr lang="en-US" sz="1300" b="1" i="0" u="none" strike="noStrike" dirty="0">
                <a:solidFill>
                  <a:srgbClr val="2E2A26"/>
                </a:solidFill>
                <a:latin typeface="Calibri"/>
              </a:rPr>
              <a:t>Monthly Revenue: Last 18 Months ($)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</c:v>
                </c:pt>
              </c:strCache>
            </c:strRef>
          </c:tx>
          <c:spPr>
            <a:ln w="34925" cap="flat">
              <a:solidFill>
                <a:srgbClr val="E2583A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E2583A"/>
              </a:solidFill>
              <a:ln w="9525" cap="flat">
                <a:solidFill>
                  <a:srgbClr val="E2583A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Sheet1!$A$2:$A$19</c:f>
              <c:strCache>
                <c:ptCount val="18"/>
                <c:pt idx="0">
                  <c:v>March '25</c:v>
                </c:pt>
                <c:pt idx="1">
                  <c:v>April '25</c:v>
                </c:pt>
                <c:pt idx="2">
                  <c:v>May '25</c:v>
                </c:pt>
                <c:pt idx="3">
                  <c:v>June '25</c:v>
                </c:pt>
                <c:pt idx="4">
                  <c:v>July '25</c:v>
                </c:pt>
                <c:pt idx="5">
                  <c:v>August '25</c:v>
                </c:pt>
                <c:pt idx="6">
                  <c:v>September '25</c:v>
                </c:pt>
                <c:pt idx="7">
                  <c:v>October '25</c:v>
                </c:pt>
                <c:pt idx="8">
                  <c:v>November '25</c:v>
                </c:pt>
                <c:pt idx="9">
                  <c:v>December '25</c:v>
                </c:pt>
                <c:pt idx="10">
                  <c:v>January '26</c:v>
                </c:pt>
                <c:pt idx="11">
                  <c:v>February '26</c:v>
                </c:pt>
                <c:pt idx="12">
                  <c:v>March '26</c:v>
                </c:pt>
                <c:pt idx="13">
                  <c:v>April '26</c:v>
                </c:pt>
                <c:pt idx="14">
                  <c:v>May '26</c:v>
                </c:pt>
                <c:pt idx="15">
                  <c:v>June '26</c:v>
                </c:pt>
                <c:pt idx="16">
                  <c:v>July '26</c:v>
                </c:pt>
                <c:pt idx="17">
                  <c:v>August '26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74510.350000000006</c:v>
                </c:pt>
                <c:pt idx="1">
                  <c:v>68271.33</c:v>
                </c:pt>
                <c:pt idx="2">
                  <c:v>72439.69</c:v>
                </c:pt>
                <c:pt idx="3">
                  <c:v>71495.179999999993</c:v>
                </c:pt>
                <c:pt idx="4">
                  <c:v>76452.490000000005</c:v>
                </c:pt>
                <c:pt idx="5">
                  <c:v>88784.61</c:v>
                </c:pt>
                <c:pt idx="6">
                  <c:v>85722.57</c:v>
                </c:pt>
                <c:pt idx="7">
                  <c:v>95622</c:v>
                </c:pt>
                <c:pt idx="8">
                  <c:v>93711.37</c:v>
                </c:pt>
                <c:pt idx="9">
                  <c:v>96813.87</c:v>
                </c:pt>
                <c:pt idx="10">
                  <c:v>107011.76</c:v>
                </c:pt>
                <c:pt idx="11">
                  <c:v>93477.08</c:v>
                </c:pt>
                <c:pt idx="12">
                  <c:v>117549.1</c:v>
                </c:pt>
                <c:pt idx="13">
                  <c:v>121184.98</c:v>
                </c:pt>
                <c:pt idx="14">
                  <c:v>144969.41</c:v>
                </c:pt>
                <c:pt idx="15">
                  <c:v>149866.1</c:v>
                </c:pt>
                <c:pt idx="16">
                  <c:v>172918.49</c:v>
                </c:pt>
                <c:pt idx="17">
                  <c:v>251480.37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58C-4740-89B0-54FA519D79F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1" i="0" u="none" strike="noStrike">
                <a:solidFill>
                  <a:srgbClr val="6B645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DFD7"/>
              </a:solidFill>
              <a:prstDash val="solid"/>
              <a:round/>
            </a:ln>
          </c:spPr>
        </c:majorGridlines>
        <c:numFmt formatCode="\$#,##0,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1" i="0" u="none" strike="noStrike">
                <a:solidFill>
                  <a:srgbClr val="6B645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E2A26"/>
                </a:solidFill>
                <a:latin typeface="Calibri"/>
              </a:defRPr>
            </a:pPr>
            <a:r>
              <a:rPr lang="en-US" sz="1300" b="1" i="0" u="none" strike="noStrike" dirty="0">
                <a:solidFill>
                  <a:srgbClr val="2E2A26"/>
                </a:solidFill>
                <a:latin typeface="Calibri"/>
              </a:rPr>
              <a:t>Monthly Repeat-Customer Rate: Last 12 Months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Repeat Rate</c:v>
                </c:pt>
              </c:strCache>
            </c:strRef>
          </c:tx>
          <c:spPr>
            <a:ln w="34925" cap="flat">
              <a:solidFill>
                <a:srgbClr val="E2583A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E2583A"/>
              </a:solidFill>
              <a:ln w="9525" cap="flat">
                <a:solidFill>
                  <a:srgbClr val="E2583A"/>
                </a:solidFill>
                <a:prstDash val="solid"/>
                <a:round/>
              </a:ln>
              <a:effectLst/>
            </c:spPr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6B6459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Sep 2025</c:v>
                </c:pt>
                <c:pt idx="1">
                  <c:v>Oct 2025</c:v>
                </c:pt>
                <c:pt idx="2">
                  <c:v>Nov 2025</c:v>
                </c:pt>
                <c:pt idx="3">
                  <c:v>Dec 2025</c:v>
                </c:pt>
                <c:pt idx="4">
                  <c:v>Jan 2026</c:v>
                </c:pt>
                <c:pt idx="5">
                  <c:v>Feb 2026</c:v>
                </c:pt>
                <c:pt idx="6">
                  <c:v>Mar 2026</c:v>
                </c:pt>
                <c:pt idx="7">
                  <c:v>Apr 2026</c:v>
                </c:pt>
                <c:pt idx="8">
                  <c:v>May 2026</c:v>
                </c:pt>
                <c:pt idx="9">
                  <c:v>Jun 2026</c:v>
                </c:pt>
                <c:pt idx="10">
                  <c:v>Jul 2026</c:v>
                </c:pt>
                <c:pt idx="11">
                  <c:v>Aug 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40.619999999999997</c:v>
                </c:pt>
                <c:pt idx="1">
                  <c:v>40.22</c:v>
                </c:pt>
                <c:pt idx="2">
                  <c:v>42.71</c:v>
                </c:pt>
                <c:pt idx="3">
                  <c:v>41.93</c:v>
                </c:pt>
                <c:pt idx="4">
                  <c:v>43.24</c:v>
                </c:pt>
                <c:pt idx="5">
                  <c:v>43.62</c:v>
                </c:pt>
                <c:pt idx="6">
                  <c:v>42.84</c:v>
                </c:pt>
                <c:pt idx="7">
                  <c:v>44.13</c:v>
                </c:pt>
                <c:pt idx="8">
                  <c:v>43.9</c:v>
                </c:pt>
                <c:pt idx="9">
                  <c:v>44.81</c:v>
                </c:pt>
                <c:pt idx="10">
                  <c:v>45.22</c:v>
                </c:pt>
                <c:pt idx="11">
                  <c:v>29.78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33E-416A-AF28-235564800BC0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B645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DFD7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45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E2A26"/>
                </a:solidFill>
                <a:latin typeface="Calibri"/>
              </a:defRPr>
            </a:pPr>
            <a:r>
              <a:rPr lang="en-US" sz="1300" b="1" i="0" u="none" strike="noStrike" dirty="0">
                <a:solidFill>
                  <a:srgbClr val="2E2A26"/>
                </a:solidFill>
                <a:latin typeface="Calibri"/>
              </a:rPr>
              <a:t>Revenue Contribution by Category: Top 6 of 26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Contribution %</c:v>
                </c:pt>
              </c:strCache>
            </c:strRef>
          </c:tx>
          <c:spPr>
            <a:solidFill>
              <a:srgbClr val="F2A65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2C0-4BF4-A3D6-F7A16A79A5E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2C0-4BF4-A3D6-F7A16A79A5E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22C0-4BF4-A3D6-F7A16A79A5E3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22C0-4BF4-A3D6-F7A16A79A5E3}"/>
              </c:ext>
            </c:extLst>
          </c:dPt>
          <c:dPt>
            <c:idx val="4"/>
            <c:invertIfNegative val="0"/>
            <c:bubble3D val="0"/>
            <c:spPr>
              <a:solidFill>
                <a:srgbClr val="E258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2C0-4BF4-A3D6-F7A16A79A5E3}"/>
              </c:ext>
            </c:extLst>
          </c:dPt>
          <c:dPt>
            <c:idx val="5"/>
            <c:invertIfNegative val="0"/>
            <c:bubble3D val="0"/>
            <c:spPr>
              <a:solidFill>
                <a:srgbClr val="E258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2C0-4BF4-A3D6-F7A16A79A5E3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2E2A2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Swim</c:v>
                </c:pt>
                <c:pt idx="1">
                  <c:v>Suits &amp; Sport Coats</c:v>
                </c:pt>
                <c:pt idx="2">
                  <c:v>Fashion Hoodies &amp; Sweatshirts</c:v>
                </c:pt>
                <c:pt idx="3">
                  <c:v>Sweaters</c:v>
                </c:pt>
                <c:pt idx="4">
                  <c:v>Jeans</c:v>
                </c:pt>
                <c:pt idx="5">
                  <c:v>Outerwear &amp; Coats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5.86</c:v>
                </c:pt>
                <c:pt idx="1">
                  <c:v>5.98</c:v>
                </c:pt>
                <c:pt idx="2">
                  <c:v>6.04</c:v>
                </c:pt>
                <c:pt idx="3">
                  <c:v>7.77</c:v>
                </c:pt>
                <c:pt idx="4">
                  <c:v>11.52</c:v>
                </c:pt>
                <c:pt idx="5">
                  <c:v>12.45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2C0-4BF4-A3D6-F7A16A79A5E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1" i="0" u="none" strike="noStrike">
                <a:solidFill>
                  <a:srgbClr val="2E2A2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50" b="1" i="0" u="none" strike="noStrike" kern="1200" baseline="0">
                <a:solidFill>
                  <a:srgbClr val="2E2A26"/>
                </a:solidFill>
                <a:latin typeface="Calibri"/>
                <a:ea typeface="+mn-ea"/>
                <a:cs typeface="+mn-cs"/>
              </a:defRPr>
            </a:pPr>
            <a:r>
              <a:rPr lang="en-US" sz="1250" b="1" i="0" u="none" strike="noStrike" dirty="0">
                <a:solidFill>
                  <a:srgbClr val="2E2A26"/>
                </a:solidFill>
                <a:latin typeface="Calibri"/>
              </a:rPr>
              <a:t>Profit Margin by Category: Top 6 by Revenue (%)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50" b="1" i="0" u="none" strike="noStrike" kern="1200" baseline="0">
              <a:solidFill>
                <a:srgbClr val="2E2A26"/>
              </a:solidFill>
              <a:latin typeface="Calibri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Margin %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FEC-4907-BB00-188749CA3F9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FEC-4907-BB00-188749CA3F93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FEC-4907-BB00-188749CA3F93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FEC-4907-BB00-188749CA3F93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FEC-4907-BB00-188749CA3F93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5FEC-4907-BB00-188749CA3F93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2E2A26"/>
                    </a:solidFill>
                    <a:latin typeface="Arial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Swim</c:v>
                </c:pt>
                <c:pt idx="1">
                  <c:v>Suits &amp; Sport Coats</c:v>
                </c:pt>
                <c:pt idx="2">
                  <c:v>Fashion Hoodies &amp; Sweatshirts</c:v>
                </c:pt>
                <c:pt idx="3">
                  <c:v>Sweaters</c:v>
                </c:pt>
                <c:pt idx="4">
                  <c:v>Jeans</c:v>
                </c:pt>
                <c:pt idx="5">
                  <c:v>Outerwear &amp; Coats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48.94</c:v>
                </c:pt>
                <c:pt idx="1">
                  <c:v>59.89</c:v>
                </c:pt>
                <c:pt idx="2">
                  <c:v>47.93</c:v>
                </c:pt>
                <c:pt idx="3">
                  <c:v>51.86</c:v>
                </c:pt>
                <c:pt idx="4">
                  <c:v>46.47</c:v>
                </c:pt>
                <c:pt idx="5">
                  <c:v>55.58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FEC-4907-BB00-188749CA3F9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rgbClr val="2E2A26"/>
                </a:solidFill>
                <a:latin typeface="Calibri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2E2A26"/>
                </a:solidFill>
                <a:latin typeface="Calibri"/>
              </a:defRPr>
            </a:pPr>
            <a:r>
              <a:rPr lang="en-IN" sz="1300" b="1" i="0" u="none" strike="noStrike">
                <a:solidFill>
                  <a:srgbClr val="2E2A26"/>
                </a:solidFill>
                <a:latin typeface="Calibri"/>
              </a:rPr>
              <a:t>Revenue Contribution by Traffic Source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Contribution %</c:v>
                </c:pt>
              </c:strCache>
            </c:strRef>
          </c:tx>
          <c:spPr>
            <a:solidFill>
              <a:srgbClr val="F2A65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E36-4038-AB37-85ECA631FBB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E36-4038-AB37-85ECA631FBB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7E36-4038-AB37-85ECA631FBB7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7E36-4038-AB37-85ECA631FBB7}"/>
              </c:ext>
            </c:extLst>
          </c:dPt>
          <c:dPt>
            <c:idx val="4"/>
            <c:invertIfNegative val="0"/>
            <c:bubble3D val="0"/>
            <c:spPr>
              <a:solidFill>
                <a:srgbClr val="E258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E36-4038-AB37-85ECA631FBB7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2E2A2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Display</c:v>
                </c:pt>
                <c:pt idx="1">
                  <c:v>Email</c:v>
                </c:pt>
                <c:pt idx="2">
                  <c:v>Facebook</c:v>
                </c:pt>
                <c:pt idx="3">
                  <c:v>Organic</c:v>
                </c:pt>
                <c:pt idx="4">
                  <c:v>Search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4.1399999999999997</c:v>
                </c:pt>
                <c:pt idx="1">
                  <c:v>5.0599999999999996</c:v>
                </c:pt>
                <c:pt idx="2">
                  <c:v>6.06</c:v>
                </c:pt>
                <c:pt idx="3">
                  <c:v>15.11</c:v>
                </c:pt>
                <c:pt idx="4">
                  <c:v>69.63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E36-4038-AB37-85ECA631FBB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1" i="0" u="none" strike="noStrike">
                <a:solidFill>
                  <a:srgbClr val="2E2A2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2640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Say: "This is a BigQuery SQL project analyzing TheLook E-commerce, a public dataset. I investigated 90 business questions and built an executive decision layer on top of the SQL findings — this deck walks through the business story, not the SQL syntax." Key caveat: this is a public dataset snapshot analyzed through 18 August 2026, not live production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data model briefly: users place orders, orders contain order_items which link to products and inventory_items, inventory_items are stocked by distribution_centers, and users generate events. Talking point: 90 business questions were written and run in BigQuery; not all outputs were kept in the executive layer — high-row-count outputs (e.g., per-product, per-brand breakdowns) were intentionally excluded from this deck to keep the story decision-relevant, but the underlying SQL exists and is documented in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30-second version of the whole project. Key talking point: strong top-of-funnel conversion (79.95%) and healthy margin (51.92%), but two things need attention — inventory sell-through is low (37%) and the most recent month's revenue is an outlier that needs validation, not celebration. If asked how conversion was calculated: ordering users ÷ total registered users, not session-level website conversion (no session/visit table distinct from events was used for this metric).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talking point: a customer who orders a second time is worth roughly 2.5x a one-time buyer on average. This is the single strongest retention argument in the project — use it to justify a retention-focused recommendation later in the deck. Caveat: this is an average, not a causal claim that retention programs will produce this exact multiplier for new customers.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talking point: multi-year revenue growth is real and consistent, but the very last data point (August 2026) is an outlier — a 45% MoM jump alongside a falling repeat-customer rate (45.22% -&gt; 29.78%) in the same month is an unusual combination. Correct answer if pressed on the cause: 'The SQL analysis identifies the trend but does not establish causality — this needs validation before being used in a forward-looking forecast.' Do not guess at a cause (promo, data pipeline, partial month) in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talking point: this chart pairs with the revenue chart — both show the same August 2026 anomaly from two angles, which strengthens the case that it's a data/period effect worth investigating rather than two unrelated coincidences. This is a good moment to demonstrate analytical maturity: don't over-explain the anomaly, just show you noticed the pattern and flagged it correctly.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talking point: this is a moderate, not extreme, concentration — the drop-off after the top 2 is gradual (Sweaters at 7.77%), not a cliff. Full 26-category ranking exists in the underlying SQL/results but is summarized here to keep the story clean. If asked: this uses Q8's category revenue-contribution query, one of 90 total business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talking point: revenue and profitability are different lenses — always distinguish them explicitly with an interviewer. Outerwear &amp; Coats is the #1 revenue category but ranks 8th of 26 by margin. On returns: emphasize that a flat distribution across categories is itself a finding — it means a category-specific fix wouldn't move the needle, and the investigation should be platform-wide (e.g. sizing, product photography, fulfillment) rather than category-targeted. Don't speculate on causes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talking point: because Search is so large (69.63% of revenue), even a small conversion improvement there moves more absolute revenue than a bigger percentage-point gain on a small channel. Terminology discipline: never say 'ROI', 'CAC', or 'ROAS' here — there's no spend data in this public dataset. Use 'revenue contribution' and 'conversion rate'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talking point: don't manufacture an operational problem where the data doesn't show one — delivery time is genuinely flat across centers (a good, honest finding). Inventory sell-through (37%) is the more interesting operational flag; be ready to say the dataset doesn't include inventory age, so 'slow-moving' vs 'recently received' can't be distinguished with certainty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synthesis slide — if a recruiter only has 2 minutes, walk through this one. Each card is finding -&gt; evidence -&gt; implication, in that order, matching how a consulting analyst would structure a takeaway. Pick 2-3 of these to go deeper on if asked follow-up questions; the retention finding (01) and the concentration finding (02) are the strongest to lead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decision matrix — the natural close of the analytical story before methodology/limitations. Note the language discipline: 'Prioritize', 'Investigate', 'Validate' — not 'will increase revenue by X%'. No recommendation here claims a quantified financial impact that the data doesn't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demonstrates analytical maturity — say explicitly that you distinguish correlation/description from causation, and that you know the boundaries of what a dataset without spend, satisfaction, or reason-code fields can support. This is a good slide to volunteer proactively if an interviewer asks 'what would you want to know next?'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 — thank the room and offer to go deeper on any section (customer, revenue, retention, profitability, operations, or the SQL itself) depending on their interest. If time allows for 10-20 minutes, be ready to open the repository directly and walk through a query (e.g. the retention or profitability SQL) to demonstrate hands-on SQL fluency beyond the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2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">
            <a:extLst>
              <a:ext uri="{FF2B5EF4-FFF2-40B4-BE49-F238E27FC236}">
                <a16:creationId xmlns:a16="http://schemas.microsoft.com/office/drawing/2014/main" id="{BB161E44-0F5F-084E-E89F-EF92686D525E}"/>
              </a:ext>
            </a:extLst>
          </p:cNvPr>
          <p:cNvSpPr/>
          <p:nvPr/>
        </p:nvSpPr>
        <p:spPr>
          <a:xfrm>
            <a:off x="502920" y="3886200"/>
            <a:ext cx="5687538" cy="411480"/>
          </a:xfrm>
          <a:prstGeom prst="roundRect">
            <a:avLst>
              <a:gd name="adj" fmla="val 5469"/>
            </a:avLst>
          </a:prstGeom>
          <a:solidFill>
            <a:srgbClr val="F6F2ED"/>
          </a:solidFill>
          <a:ln w="9525">
            <a:solidFill>
              <a:srgbClr val="E4DFD7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algn="ctr"/>
            <a:endParaRPr lang="en-IN" dirty="0"/>
          </a:p>
        </p:txBody>
      </p:sp>
      <p:sp>
        <p:nvSpPr>
          <p:cNvPr id="2" name="Shape 0"/>
          <p:cNvSpPr/>
          <p:nvPr/>
        </p:nvSpPr>
        <p:spPr>
          <a:xfrm>
            <a:off x="8094269" y="-1313597"/>
            <a:ext cx="5536896" cy="4892040"/>
          </a:xfrm>
          <a:prstGeom prst="roundRect">
            <a:avLst>
              <a:gd name="adj" fmla="val 7273"/>
            </a:avLst>
          </a:prstGeom>
          <a:solidFill>
            <a:srgbClr val="A8462B">
              <a:alpha val="22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8846479" y="-725379"/>
            <a:ext cx="4304505" cy="3611880"/>
          </a:xfrm>
          <a:prstGeom prst="roundRect">
            <a:avLst>
              <a:gd name="adj" fmla="val 9722"/>
            </a:avLst>
          </a:prstGeom>
          <a:solidFill>
            <a:srgbClr val="E2583A">
              <a:alpha val="38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502920" y="2246421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THELOOK E-COMMERCE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3291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SQL-DRIVEN BUSINESS &amp; DECISION ANALYTICS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8454" y="38862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Business Questions  →  BigQuery SQL  →  Business Insights  →  Decisions</a:t>
            </a:r>
            <a:endParaRPr lang="en-US" sz="1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4709160"/>
            <a:ext cx="965606" cy="329184"/>
          </a:xfrm>
          <a:prstGeom prst="roundRect">
            <a:avLst>
              <a:gd name="adj" fmla="val 50000"/>
            </a:avLst>
          </a:prstGeom>
          <a:solidFill>
            <a:srgbClr val="3D3730"/>
          </a:solidFill>
          <a:ln w="9525">
            <a:solidFill>
              <a:srgbClr val="554E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4709160"/>
            <a:ext cx="9656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5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596542" y="4709160"/>
            <a:ext cx="544982" cy="329184"/>
          </a:xfrm>
          <a:prstGeom prst="roundRect">
            <a:avLst>
              <a:gd name="adj" fmla="val 50000"/>
            </a:avLst>
          </a:prstGeom>
          <a:solidFill>
            <a:srgbClr val="3D3730"/>
          </a:solidFill>
          <a:ln w="9525">
            <a:solidFill>
              <a:srgbClr val="554E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596542" y="4709160"/>
            <a:ext cx="5449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5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69541" y="4709160"/>
            <a:ext cx="1806854" cy="329184"/>
          </a:xfrm>
          <a:prstGeom prst="roundRect">
            <a:avLst>
              <a:gd name="adj" fmla="val 50000"/>
            </a:avLst>
          </a:prstGeom>
          <a:solidFill>
            <a:srgbClr val="3D3730"/>
          </a:solidFill>
          <a:ln w="9525">
            <a:solidFill>
              <a:srgbClr val="554E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269541" y="4709160"/>
            <a:ext cx="18068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5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04411" y="4709160"/>
            <a:ext cx="881482" cy="329184"/>
          </a:xfrm>
          <a:prstGeom prst="roundRect">
            <a:avLst>
              <a:gd name="adj" fmla="val 50000"/>
            </a:avLst>
          </a:prstGeom>
          <a:solidFill>
            <a:srgbClr val="3D3730"/>
          </a:solidFill>
          <a:ln w="9525">
            <a:solidFill>
              <a:srgbClr val="554E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204411" y="4709160"/>
            <a:ext cx="8814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5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213909" y="4709160"/>
            <a:ext cx="1049731" cy="329184"/>
          </a:xfrm>
          <a:prstGeom prst="roundRect">
            <a:avLst>
              <a:gd name="adj" fmla="val 50000"/>
            </a:avLst>
          </a:prstGeom>
          <a:solidFill>
            <a:srgbClr val="3D3730"/>
          </a:solidFill>
          <a:ln w="9525">
            <a:solidFill>
              <a:srgbClr val="554E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213909" y="4709160"/>
            <a:ext cx="10497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5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91656" y="4709160"/>
            <a:ext cx="881482" cy="329184"/>
          </a:xfrm>
          <a:prstGeom prst="roundRect">
            <a:avLst>
              <a:gd name="adj" fmla="val 50000"/>
            </a:avLst>
          </a:prstGeom>
          <a:solidFill>
            <a:srgbClr val="3D3730"/>
          </a:solidFill>
          <a:ln w="9525">
            <a:solidFill>
              <a:srgbClr val="554E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391656" y="4709160"/>
            <a:ext cx="8814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5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01154" y="4709160"/>
            <a:ext cx="1386230" cy="329184"/>
          </a:xfrm>
          <a:prstGeom prst="roundRect">
            <a:avLst>
              <a:gd name="adj" fmla="val 50000"/>
            </a:avLst>
          </a:prstGeom>
          <a:solidFill>
            <a:srgbClr val="3D3730"/>
          </a:solidFill>
          <a:ln w="9525">
            <a:solidFill>
              <a:srgbClr val="554E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401154" y="4709160"/>
            <a:ext cx="13862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5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15400" y="4709160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3D3730"/>
          </a:solidFill>
          <a:ln w="9525">
            <a:solidFill>
              <a:srgbClr val="554E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915400" y="4709160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5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through 18 August 2026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73975" y="6126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A9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Ayush Kumar Sahoo</a:t>
            </a:r>
            <a:endParaRPr lang="en-US" sz="1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Full-Funnel E-commerce Dataset, Analyzed End to End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9842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TheLook E-commerce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23500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BigQuery dataset : </a:t>
            </a:r>
            <a:r>
              <a:rPr lang="en-US" sz="1150" b="1" i="1" dirty="0" err="1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r>
              <a:rPr lang="en-US" sz="1150" b="1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-public-</a:t>
            </a:r>
            <a:r>
              <a:rPr lang="en-US" sz="1150" b="1" i="1" dirty="0" err="1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data.thelook_ecommerce</a:t>
            </a:r>
            <a:endParaRPr lang="en-US" sz="1150" b="1" dirty="0"/>
          </a:p>
        </p:txBody>
      </p:sp>
      <p:sp>
        <p:nvSpPr>
          <p:cNvPr id="7" name="Text 5"/>
          <p:cNvSpPr/>
          <p:nvPr/>
        </p:nvSpPr>
        <p:spPr>
          <a:xfrm>
            <a:off x="502920" y="2834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RELATED TABLES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3163824"/>
            <a:ext cx="1572768" cy="457200"/>
          </a:xfrm>
          <a:prstGeom prst="roundRect">
            <a:avLst>
              <a:gd name="adj" fmla="val 12000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02920" y="316382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03704" y="3163824"/>
            <a:ext cx="1572768" cy="457200"/>
          </a:xfrm>
          <a:prstGeom prst="roundRect">
            <a:avLst>
              <a:gd name="adj" fmla="val 12000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203704" y="316382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04488" y="3163824"/>
            <a:ext cx="1572768" cy="457200"/>
          </a:xfrm>
          <a:prstGeom prst="roundRect">
            <a:avLst>
              <a:gd name="adj" fmla="val 12000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904488" y="316382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Items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1572768" cy="457200"/>
          </a:xfrm>
          <a:prstGeom prst="roundRect">
            <a:avLst>
              <a:gd name="adj" fmla="val 12000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02920" y="37490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03704" y="3749040"/>
            <a:ext cx="1572768" cy="457200"/>
          </a:xfrm>
          <a:prstGeom prst="roundRect">
            <a:avLst>
              <a:gd name="adj" fmla="val 12000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203704" y="37490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Items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904488" y="3749040"/>
            <a:ext cx="1572768" cy="457200"/>
          </a:xfrm>
          <a:prstGeom prst="roundRect">
            <a:avLst>
              <a:gd name="adj" fmla="val 12000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904488" y="37490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Centers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03704" y="4343400"/>
            <a:ext cx="1572768" cy="457200"/>
          </a:xfrm>
          <a:prstGeom prst="roundRect">
            <a:avLst>
              <a:gd name="adj" fmla="val 12000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181759" y="4346675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50566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COVERAGE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5385816"/>
            <a:ext cx="93634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58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02920" y="5385816"/>
            <a:ext cx="9363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548994" y="5385816"/>
            <a:ext cx="85587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58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548994" y="5385816"/>
            <a:ext cx="8558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14600" y="5385816"/>
            <a:ext cx="1016813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58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514600" y="5385816"/>
            <a:ext cx="101681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753820" y="6107919"/>
            <a:ext cx="85587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58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753820" y="6098434"/>
            <a:ext cx="8558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5751576"/>
            <a:ext cx="133868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58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02920" y="5751576"/>
            <a:ext cx="13386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951330" y="5751576"/>
            <a:ext cx="1016813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58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1951330" y="5751576"/>
            <a:ext cx="101681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077870" y="5751576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58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077870" y="575157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59659" y="6107919"/>
            <a:ext cx="1016813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58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2759659" y="6090382"/>
            <a:ext cx="101681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02920" y="6117336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58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02920" y="611733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720840" y="1691640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FRAMEWORK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720840" y="2057400"/>
            <a:ext cx="4967935" cy="566928"/>
          </a:xfrm>
          <a:prstGeom prst="roundRect">
            <a:avLst>
              <a:gd name="adj" fmla="val 12903"/>
            </a:avLst>
          </a:prstGeom>
          <a:solidFill>
            <a:srgbClr val="F6F2ED"/>
          </a:solidFill>
          <a:ln w="12700">
            <a:solidFill>
              <a:srgbClr val="E4DF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848856" y="205740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287768" y="2057400"/>
            <a:ext cx="42821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9021928" y="2624328"/>
            <a:ext cx="36576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720840" y="2747772"/>
            <a:ext cx="4967935" cy="566928"/>
          </a:xfrm>
          <a:prstGeom prst="roundRect">
            <a:avLst>
              <a:gd name="adj" fmla="val 12903"/>
            </a:avLst>
          </a:prstGeom>
          <a:solidFill>
            <a:srgbClr val="F6F2ED"/>
          </a:solidFill>
          <a:ln w="12700">
            <a:solidFill>
              <a:srgbClr val="E4DFD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7" name="Text 45"/>
          <p:cNvSpPr/>
          <p:nvPr/>
        </p:nvSpPr>
        <p:spPr>
          <a:xfrm>
            <a:off x="6848856" y="274777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287768" y="2747772"/>
            <a:ext cx="42821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9021928" y="3314700"/>
            <a:ext cx="36576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720840" y="3438144"/>
            <a:ext cx="4967935" cy="566928"/>
          </a:xfrm>
          <a:prstGeom prst="roundRect">
            <a:avLst>
              <a:gd name="adj" fmla="val 12903"/>
            </a:avLst>
          </a:prstGeom>
          <a:solidFill>
            <a:srgbClr val="F6F2ED"/>
          </a:solidFill>
          <a:ln w="12700">
            <a:solidFill>
              <a:srgbClr val="E4DF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6848856" y="343814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287768" y="3438144"/>
            <a:ext cx="42821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SQL Analyses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9021928" y="4005072"/>
            <a:ext cx="36576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720840" y="4128516"/>
            <a:ext cx="4967935" cy="566928"/>
          </a:xfrm>
          <a:prstGeom prst="roundRect">
            <a:avLst>
              <a:gd name="adj" fmla="val 12903"/>
            </a:avLst>
          </a:prstGeom>
          <a:solidFill>
            <a:srgbClr val="F6F2ED"/>
          </a:solidFill>
          <a:ln w="12700">
            <a:solidFill>
              <a:srgbClr val="E4DF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848856" y="412851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287768" y="4128516"/>
            <a:ext cx="42821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Outputs</a:t>
            </a:r>
            <a:endParaRPr lang="en-US" sz="1350" dirty="0"/>
          </a:p>
        </p:txBody>
      </p:sp>
      <p:sp>
        <p:nvSpPr>
          <p:cNvPr id="57" name="Text 55"/>
          <p:cNvSpPr/>
          <p:nvPr/>
        </p:nvSpPr>
        <p:spPr>
          <a:xfrm>
            <a:off x="9021928" y="4695444"/>
            <a:ext cx="36576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6720840" y="4818888"/>
            <a:ext cx="4967935" cy="566928"/>
          </a:xfrm>
          <a:prstGeom prst="roundRect">
            <a:avLst>
              <a:gd name="adj" fmla="val 12903"/>
            </a:avLst>
          </a:prstGeom>
          <a:solidFill>
            <a:srgbClr val="F6F2ED"/>
          </a:solidFill>
          <a:ln w="12700">
            <a:solidFill>
              <a:srgbClr val="E4DF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6848856" y="481888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287768" y="4818888"/>
            <a:ext cx="42821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350" dirty="0"/>
          </a:p>
        </p:txBody>
      </p:sp>
      <p:sp>
        <p:nvSpPr>
          <p:cNvPr id="61" name="Text 59"/>
          <p:cNvSpPr/>
          <p:nvPr/>
        </p:nvSpPr>
        <p:spPr>
          <a:xfrm>
            <a:off x="9021928" y="5385816"/>
            <a:ext cx="36576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6720840" y="5509260"/>
            <a:ext cx="4967935" cy="566928"/>
          </a:xfrm>
          <a:prstGeom prst="roundRect">
            <a:avLst>
              <a:gd name="adj" fmla="val 12903"/>
            </a:avLst>
          </a:prstGeom>
          <a:solidFill>
            <a:srgbClr val="E2583A"/>
          </a:solidFill>
          <a:ln w="12700">
            <a:solidFill>
              <a:srgbClr val="E258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6848856" y="550926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287768" y="5509260"/>
            <a:ext cx="42821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High-Converting, Profitable Business With a Retention Opportunity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2120128" cy="1170432"/>
          </a:xfrm>
          <a:prstGeom prst="roundRect">
            <a:avLst>
              <a:gd name="adj" fmla="val 5469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/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612648" y="1737360"/>
            <a:ext cx="1900672" cy="6788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25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12648" y="2371588"/>
            <a:ext cx="1900672" cy="397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USERS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69352" y="1645920"/>
            <a:ext cx="2120128" cy="1170432"/>
          </a:xfrm>
          <a:prstGeom prst="roundRect">
            <a:avLst>
              <a:gd name="adj" fmla="val 5469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/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879080" y="1737360"/>
            <a:ext cx="1900672" cy="6788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25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124,771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879080" y="2371588"/>
            <a:ext cx="1900672" cy="397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35784" y="1645920"/>
            <a:ext cx="2120128" cy="1170432"/>
          </a:xfrm>
          <a:prstGeom prst="roundRect">
            <a:avLst>
              <a:gd name="adj" fmla="val 5469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/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145512" y="1737360"/>
            <a:ext cx="1900672" cy="6788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25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79,948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145512" y="2371588"/>
            <a:ext cx="1900672" cy="397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USERS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02216" y="1645920"/>
            <a:ext cx="2120128" cy="1170432"/>
          </a:xfrm>
          <a:prstGeom prst="roundRect">
            <a:avLst>
              <a:gd name="adj" fmla="val 5469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/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411944" y="1737360"/>
            <a:ext cx="1900672" cy="6788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25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79.95%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411944" y="2371588"/>
            <a:ext cx="1900672" cy="397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REGISTERED-USER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kern="0" spc="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CONVERSION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568647" y="1645920"/>
            <a:ext cx="2120128" cy="1170432"/>
          </a:xfrm>
          <a:prstGeom prst="roundRect">
            <a:avLst>
              <a:gd name="adj" fmla="val 5469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/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678375" y="1737360"/>
            <a:ext cx="1900672" cy="6788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25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$86.47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678375" y="2371588"/>
            <a:ext cx="1900672" cy="397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2962656"/>
            <a:ext cx="2120128" cy="1170432"/>
          </a:xfrm>
          <a:prstGeom prst="roundRect">
            <a:avLst>
              <a:gd name="adj" fmla="val 5469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/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12648" y="3054096"/>
            <a:ext cx="1900672" cy="6788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25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$10.79M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12648" y="3688324"/>
            <a:ext cx="1900672" cy="397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69352" y="2962656"/>
            <a:ext cx="2120128" cy="1170432"/>
          </a:xfrm>
          <a:prstGeom prst="roundRect">
            <a:avLst>
              <a:gd name="adj" fmla="val 5469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/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879080" y="3054096"/>
            <a:ext cx="1900672" cy="6788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25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51.92%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2879080" y="3688324"/>
            <a:ext cx="1900672" cy="397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35784" y="2962656"/>
            <a:ext cx="2120128" cy="1170432"/>
          </a:xfrm>
          <a:prstGeom prst="roundRect">
            <a:avLst>
              <a:gd name="adj" fmla="val 5469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/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145512" y="3054096"/>
            <a:ext cx="1900672" cy="6788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25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9.83%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5145512" y="3688324"/>
            <a:ext cx="1900672" cy="397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02216" y="2962656"/>
            <a:ext cx="2120128" cy="1170432"/>
          </a:xfrm>
          <a:prstGeom prst="roundRect">
            <a:avLst>
              <a:gd name="adj" fmla="val 5469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/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411944" y="3054096"/>
            <a:ext cx="1900672" cy="6788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25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37.05%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7411944" y="3688324"/>
            <a:ext cx="1900672" cy="397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kern="0" spc="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SELL-THROUGH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68647" y="2962656"/>
            <a:ext cx="2120128" cy="1170432"/>
          </a:xfrm>
          <a:prstGeom prst="roundRect">
            <a:avLst>
              <a:gd name="adj" fmla="val 5469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/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9678375" y="3054096"/>
            <a:ext cx="1900672" cy="67885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25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3.98 days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9678375" y="3688324"/>
            <a:ext cx="1900672" cy="397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DELIVERY TIME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" y="44622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SAYS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4791456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25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79.95%</a:t>
            </a: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registered users have placed at least one order a strong conversion baseline.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02920" y="5084064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25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broad-based: </a:t>
            </a:r>
            <a:r>
              <a:rPr lang="en-US" sz="125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10 products drive only 1.23% of revenue</a:t>
            </a: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02920" y="5376672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25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(</a:t>
            </a:r>
            <a:r>
              <a:rPr lang="en-US" sz="125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51.92% margin</a:t>
            </a: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is healthy, but varies meaningfully by category.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02920" y="566928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25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sell-through (</a:t>
            </a:r>
            <a:r>
              <a:rPr lang="en-US" sz="125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37.05%) </a:t>
            </a: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recent revenue spike both warrant follow-up.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TheLook E-commerce  |  SQL-Driven Business &amp; Decision Analytics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488375" y="65288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through 18-Aug-2026   ·   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 Customers Generate 2.5x More Revenue per Customer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4206240" cy="1874520"/>
          </a:xfrm>
          <a:prstGeom prst="roundRect">
            <a:avLst>
              <a:gd name="adj" fmla="val 3902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85800" y="18379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CUSTOMERS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2167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29,851 customers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4780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$6,462,519 total revenue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86207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5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$216.49 avg. revenue / customer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02920" y="3749040"/>
            <a:ext cx="4206240" cy="1874520"/>
          </a:xfrm>
          <a:prstGeom prst="roundRect">
            <a:avLst>
              <a:gd name="adj" fmla="val 3902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85800" y="38953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CUSTOMERS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42245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50,097 customers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45354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$4,326,274 total revenue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91947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5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$86.36 avg. revenue / customer</a:t>
            </a:r>
            <a:endParaRPr lang="en-US" sz="2000" dirty="0">
              <a:solidFill>
                <a:srgbClr val="E2583A"/>
              </a:solidFill>
            </a:endParaRPr>
          </a:p>
        </p:txBody>
      </p:sp>
      <p:graphicFrame>
        <p:nvGraphicFramePr>
          <p:cNvPr id="14" name="Chart 0"/>
          <p:cNvGraphicFramePr/>
          <p:nvPr>
            <p:extLst>
              <p:ext uri="{D42A27DB-BD31-4B8C-83A1-F6EECF244321}">
                <p14:modId xmlns:p14="http://schemas.microsoft.com/office/powerpoint/2010/main" val="843325737"/>
              </p:ext>
            </p:extLst>
          </p:nvPr>
        </p:nvGraphicFramePr>
        <p:xfrm>
          <a:off x="5532120" y="1691640"/>
          <a:ext cx="6156655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 12"/>
          <p:cNvSpPr/>
          <p:nvPr/>
        </p:nvSpPr>
        <p:spPr>
          <a:xfrm>
            <a:off x="502920" y="562356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customers are 37% of the ordering base but contribute nearly 60% of total revenue ($6.46M of $10.79M) retention converts directly into customer value.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TheLook E-commerce  |  SQL-Driven Business &amp; Decision Analytics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488375" y="65288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through 18-Aug-2026   ·   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GROWTH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Grew Steadily, With a Sharp Late-Period Divergence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397025651"/>
              </p:ext>
            </p:extLst>
          </p:nvPr>
        </p:nvGraphicFramePr>
        <p:xfrm>
          <a:off x="502920" y="1600200"/>
          <a:ext cx="11185855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549640" y="1373511"/>
            <a:ext cx="3200400" cy="537585"/>
          </a:xfrm>
          <a:prstGeom prst="roundRect">
            <a:avLst>
              <a:gd name="adj" fmla="val 8163"/>
            </a:avLst>
          </a:prstGeom>
          <a:solidFill>
            <a:schemeClr val="accent2">
              <a:lumMod val="20000"/>
              <a:lumOff val="80000"/>
            </a:schemeClr>
          </a:solidFill>
          <a:ln w="15875">
            <a:solidFill>
              <a:srgbClr val="E258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693624" y="1453896"/>
            <a:ext cx="299515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2026: </a:t>
            </a:r>
            <a:r>
              <a:rPr lang="en-US" sz="11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+45% MoM, with a falling repeat rate. Flagged for validation not a confirmed trend.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" y="544068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300" i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climbed from roughly $118K (Mar 2026) to $173K (Jul 2026) consistent sequential growth. The final month, Aug 2026, jumped to $251K, </a:t>
            </a:r>
          </a:p>
          <a:p>
            <a:pPr marL="0" indent="0" algn="just">
              <a:buNone/>
            </a:pPr>
            <a:r>
              <a:rPr lang="en-US" sz="1300" i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sharpest single-month move in the dataset.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TheLook E-commerce  |  SQL-Driven Business &amp; Decision Analytics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488375" y="65288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through 18-Aug-2026   ·   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&amp; LIFECYCLE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Repeat-Purchase Participation Held Near 45% Before a Recent Drop</a:t>
            </a:r>
            <a:endParaRPr lang="en-US" sz="23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688103117"/>
              </p:ext>
            </p:extLst>
          </p:nvPr>
        </p:nvGraphicFramePr>
        <p:xfrm>
          <a:off x="502920" y="1600200"/>
          <a:ext cx="740664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818120" y="1691640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818120" y="1965960"/>
            <a:ext cx="3870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customer base becoming more valuable through repeat behavior?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147713" y="2880360"/>
            <a:ext cx="3166282" cy="960120"/>
          </a:xfrm>
          <a:prstGeom prst="roundRect">
            <a:avLst>
              <a:gd name="adj" fmla="val 6667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/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927848" y="2971800"/>
            <a:ext cx="3651199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25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45.22%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927848" y="3475634"/>
            <a:ext cx="3651199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2026 REPEAT RATE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147713" y="3977640"/>
            <a:ext cx="3166281" cy="960120"/>
          </a:xfrm>
          <a:prstGeom prst="roundRect">
            <a:avLst>
              <a:gd name="adj" fmla="val 6667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/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927848" y="4069080"/>
            <a:ext cx="3651199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25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29.78%</a:t>
            </a:r>
            <a:endParaRPr lang="en-US" sz="2200" dirty="0">
              <a:solidFill>
                <a:srgbClr val="E2583A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7927848" y="4572914"/>
            <a:ext cx="3651199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 REPEAT RATE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557784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Yes, historically the repeat rate trended upward from </a:t>
            </a:r>
            <a:r>
              <a:rPr lang="en-US" sz="1250" b="1" i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 (Sep 2025) to 45% (Jul 2026). </a:t>
            </a:r>
          </a:p>
          <a:p>
            <a:pPr marL="0" indent="0">
              <a:buNone/>
            </a:pPr>
            <a:r>
              <a:rPr lang="en-US" sz="1250" i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2026's drop coincides with the revenue spike flagged on the previous slide and should be validated together.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TheLook E-commerce  |  SQL-Driven Business &amp; Decision Analytics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488375" y="65288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through 18-Aug-2026   ·   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CATEGORY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Categories Drive Nearly a Quarter of Category Revenue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464302527"/>
              </p:ext>
            </p:extLst>
          </p:nvPr>
        </p:nvGraphicFramePr>
        <p:xfrm>
          <a:off x="502920" y="1600200"/>
          <a:ext cx="75895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244688" y="1828800"/>
            <a:ext cx="3468320" cy="1093623"/>
          </a:xfrm>
          <a:prstGeom prst="roundRect">
            <a:avLst>
              <a:gd name="adj" fmla="val 5185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110728" y="1828800"/>
            <a:ext cx="3468319" cy="7159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25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23.97%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110728" y="2502713"/>
            <a:ext cx="346831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 CATEGORIES COMBINED SHARE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001000" y="3154680"/>
            <a:ext cx="368777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Outerwear &amp; Coats (12.45%) </a:t>
            </a: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12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Jeans (11.52%) 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drive nearly a quarter of total revenue, while the remaining 24 categories share the rest.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001000" y="4617720"/>
            <a:ext cx="3687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protect inventory availability and marketing support for these two categories as core revenue drivers.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TheLook E-commerce  |  SQL-Driven Business &amp; Decision Analytics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488375" y="65288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through 18-Aug-2026   ·   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&amp; RETURNS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Top Revenue Category Is Not the Top Margin Category</a:t>
            </a:r>
            <a:endParaRPr lang="en-US" sz="23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685482934"/>
              </p:ext>
            </p:extLst>
          </p:nvPr>
        </p:nvGraphicFramePr>
        <p:xfrm>
          <a:off x="502920" y="1554480"/>
          <a:ext cx="653796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138928"/>
            <a:ext cx="6537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Company-wide</a:t>
            </a:r>
            <a:r>
              <a:rPr lang="en-US" sz="1150" i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margin: </a:t>
            </a:r>
            <a:r>
              <a:rPr lang="en-US" sz="1150" b="1" i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51.92%. </a:t>
            </a:r>
          </a:p>
          <a:p>
            <a:pPr marL="0" indent="0">
              <a:buNone/>
            </a:pPr>
            <a:r>
              <a:rPr lang="en-US" sz="1150" b="1" i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Outerwear &amp; Coats </a:t>
            </a:r>
            <a:r>
              <a:rPr lang="en-US" sz="1150" i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revenue but sits mid-pack on margin (</a:t>
            </a:r>
            <a:r>
              <a:rPr lang="en-US" sz="1150" b="1" i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55.58%</a:t>
            </a:r>
            <a:r>
              <a:rPr lang="en-US" sz="1150" i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0" indent="0">
              <a:buNone/>
            </a:pPr>
            <a:r>
              <a:rPr lang="en-US" sz="1150" b="1" i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Suits &amp; Sport Coats </a:t>
            </a:r>
            <a:r>
              <a:rPr lang="en-US" sz="1150" i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out-margins it at </a:t>
            </a:r>
            <a:r>
              <a:rPr lang="en-US" sz="1150" b="1" i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59.89%</a:t>
            </a:r>
            <a:r>
              <a:rPr lang="en-US" sz="1150" i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7452360" y="1554480"/>
            <a:ext cx="423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452360" y="1874520"/>
            <a:ext cx="4236415" cy="1051560"/>
          </a:xfrm>
          <a:prstGeom prst="roundRect">
            <a:avLst>
              <a:gd name="adj" fmla="val 6087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/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562088" y="1965960"/>
            <a:ext cx="4016959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25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9.83%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562088" y="2526487"/>
            <a:ext cx="4016959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RETURN RATE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452360" y="3017520"/>
            <a:ext cx="423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12,270 of 124,771 orders returned.</a:t>
            </a:r>
            <a:endParaRPr lang="en-US" sz="1100" b="1" dirty="0"/>
          </a:p>
        </p:txBody>
      </p:sp>
      <p:sp>
        <p:nvSpPr>
          <p:cNvPr id="11" name="Text 8"/>
          <p:cNvSpPr/>
          <p:nvPr/>
        </p:nvSpPr>
        <p:spPr>
          <a:xfrm>
            <a:off x="7452360" y="3383280"/>
            <a:ext cx="4236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return rates range </a:t>
            </a:r>
            <a:r>
              <a:rPr lang="en-US" sz="12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9.09% - 10.81% </a:t>
            </a: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tightly clustered around the platform average, with no single-category outlier.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452360" y="4526280"/>
            <a:ext cx="4236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not determinable from this dataset no return-reason field exists.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TheLook E-commerce  |  SQL-Driven Business &amp; Decision Analytics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488375" y="65288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through 18-Aug-2026   ·   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TRAFFIC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Drives 70% of Revenue but Converts Marginally Lower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682796345"/>
              </p:ext>
            </p:extLst>
          </p:nvPr>
        </p:nvGraphicFramePr>
        <p:xfrm>
          <a:off x="502920" y="1600200"/>
          <a:ext cx="65379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983480"/>
            <a:ext cx="6537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marketing-spend data exists in this dataset figures describe revenue contribution and conversion only, </a:t>
            </a:r>
          </a:p>
          <a:p>
            <a:pPr marL="0" indent="0">
              <a:buNone/>
            </a:pPr>
            <a:r>
              <a:rPr lang="en-US" sz="11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ROI or CAC.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452360" y="1600200"/>
            <a:ext cx="423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BY SOURCE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452360" y="1965960"/>
            <a:ext cx="4236415" cy="502920"/>
          </a:xfrm>
          <a:prstGeom prst="roundRect">
            <a:avLst>
              <a:gd name="adj" fmla="val 9091"/>
            </a:avLst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562088" y="1965960"/>
            <a:ext cx="23300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570568" y="1965960"/>
            <a:ext cx="200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81.16%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452360" y="2542032"/>
            <a:ext cx="4236415" cy="502920"/>
          </a:xfrm>
          <a:prstGeom prst="roundRect">
            <a:avLst>
              <a:gd name="adj" fmla="val 9091"/>
            </a:avLst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562088" y="2542032"/>
            <a:ext cx="23300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570568" y="2542032"/>
            <a:ext cx="200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80.52%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452360" y="3118104"/>
            <a:ext cx="4236415" cy="502920"/>
          </a:xfrm>
          <a:prstGeom prst="roundRect">
            <a:avLst>
              <a:gd name="adj" fmla="val 9091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7562088" y="3118104"/>
            <a:ext cx="23300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570568" y="3118104"/>
            <a:ext cx="200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25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79.91%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452360" y="3694176"/>
            <a:ext cx="4236415" cy="502920"/>
          </a:xfrm>
          <a:prstGeom prst="roundRect">
            <a:avLst>
              <a:gd name="adj" fmla="val 9091"/>
            </a:avLst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7562088" y="3694176"/>
            <a:ext cx="23300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570568" y="3694176"/>
            <a:ext cx="200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79.17%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452360" y="4270248"/>
            <a:ext cx="4236415" cy="502920"/>
          </a:xfrm>
          <a:prstGeom prst="roundRect">
            <a:avLst>
              <a:gd name="adj" fmla="val 9091"/>
            </a:avLst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7562088" y="4270248"/>
            <a:ext cx="23300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570568" y="4270248"/>
            <a:ext cx="200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78.83%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452360" y="4983480"/>
            <a:ext cx="4236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drives the largest volume but converts marginally lower than every channel except Facebook.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TheLook E-commerce  |  SQL-Driven Business &amp; Decision Analytics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488375" y="65288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through 18-Aug-2026   ·   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INVENTORY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Is Consistent Across Centers; Inventory Sell-Through Lags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CENTER DELIVERY TIME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across all 10 centers: 3.96 - 4.01 days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2286000"/>
            <a:ext cx="5394960" cy="420624"/>
          </a:xfrm>
          <a:prstGeom prst="roundRect">
            <a:avLst>
              <a:gd name="adj" fmla="val 8696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29672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Charleston SC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2286000"/>
            <a:ext cx="2587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10.1% returns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752344"/>
            <a:ext cx="53949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7620">
            <a:solidFill>
              <a:srgbClr val="E4DF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12648" y="2752344"/>
            <a:ext cx="29672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Angeles CA</a:t>
            </a:r>
            <a:endParaRPr lang="en-US" sz="1100" b="1" dirty="0"/>
          </a:p>
        </p:txBody>
      </p:sp>
      <p:sp>
        <p:nvSpPr>
          <p:cNvPr id="11" name="Text 9"/>
          <p:cNvSpPr/>
          <p:nvPr/>
        </p:nvSpPr>
        <p:spPr>
          <a:xfrm>
            <a:off x="3200400" y="2752344"/>
            <a:ext cx="2587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9.99% returns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218688"/>
            <a:ext cx="53949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7620">
            <a:solidFill>
              <a:srgbClr val="E4DF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12648" y="3218688"/>
            <a:ext cx="29672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Savannah GA</a:t>
            </a:r>
            <a:endParaRPr lang="en-US" sz="1100" b="1" dirty="0"/>
          </a:p>
        </p:txBody>
      </p:sp>
      <p:sp>
        <p:nvSpPr>
          <p:cNvPr id="14" name="Text 12"/>
          <p:cNvSpPr/>
          <p:nvPr/>
        </p:nvSpPr>
        <p:spPr>
          <a:xfrm>
            <a:off x="3200400" y="3218688"/>
            <a:ext cx="2587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9.94% returns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685032"/>
            <a:ext cx="53949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7620">
            <a:solidFill>
              <a:srgbClr val="E4DFD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612648" y="3685032"/>
            <a:ext cx="29672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Memphis TN</a:t>
            </a:r>
            <a:endParaRPr lang="en-US" sz="1100" b="1" dirty="0"/>
          </a:p>
        </p:txBody>
      </p:sp>
      <p:sp>
        <p:nvSpPr>
          <p:cNvPr id="17" name="Text 15"/>
          <p:cNvSpPr/>
          <p:nvPr/>
        </p:nvSpPr>
        <p:spPr>
          <a:xfrm>
            <a:off x="3200400" y="3685032"/>
            <a:ext cx="2587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9.87% returns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4151376"/>
            <a:ext cx="539496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7620">
            <a:solidFill>
              <a:srgbClr val="E4DF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12648" y="4151376"/>
            <a:ext cx="29672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 TX</a:t>
            </a:r>
            <a:endParaRPr lang="en-US" sz="1100" b="1" dirty="0"/>
          </a:p>
        </p:txBody>
      </p:sp>
      <p:sp>
        <p:nvSpPr>
          <p:cNvPr id="20" name="Text 18"/>
          <p:cNvSpPr/>
          <p:nvPr/>
        </p:nvSpPr>
        <p:spPr>
          <a:xfrm>
            <a:off x="3200400" y="4151376"/>
            <a:ext cx="2587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9.83% returns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72744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differentiation in delivery speed observed across centers. </a:t>
            </a:r>
          </a:p>
          <a:p>
            <a:pPr marL="0" indent="0">
              <a:buNone/>
            </a:pPr>
            <a:r>
              <a:rPr lang="en-US" sz="1150" b="1" i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Charleston SC </a:t>
            </a:r>
            <a:r>
              <a:rPr lang="en-US" sz="1150" i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</a:t>
            </a:r>
            <a:r>
              <a:rPr lang="en-US" sz="1150" b="1" i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return rate (10.10%) vs. Chicago IL's 9.65% </a:t>
            </a:r>
            <a:r>
              <a:rPr lang="en-US" sz="1150" i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</a:t>
            </a:r>
          </a:p>
          <a:p>
            <a:pPr marL="0" indent="0">
              <a:buNone/>
            </a:pPr>
            <a:r>
              <a:rPr lang="en-US" sz="1150" i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longer observation window before concluding it's structural.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29400" y="1600200"/>
            <a:ext cx="5059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29400" y="1901952"/>
            <a:ext cx="5059375" cy="1051560"/>
          </a:xfrm>
          <a:prstGeom prst="roundRect">
            <a:avLst>
              <a:gd name="adj" fmla="val 6087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/>
            <a:endParaRPr lang="en-IN" dirty="0"/>
          </a:p>
        </p:txBody>
      </p:sp>
      <p:sp>
        <p:nvSpPr>
          <p:cNvPr id="24" name="Text 22"/>
          <p:cNvSpPr/>
          <p:nvPr/>
        </p:nvSpPr>
        <p:spPr>
          <a:xfrm>
            <a:off x="6739128" y="1993392"/>
            <a:ext cx="4839919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25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37.05%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739128" y="2553919"/>
            <a:ext cx="4839919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SELL-THROUGH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629400" y="3054096"/>
            <a:ext cx="5059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180,919 of 488,373 units </a:t>
            </a:r>
            <a:r>
              <a:rPr lang="en-US" sz="11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roughly two-thirds of received inventory </a:t>
            </a:r>
          </a:p>
          <a:p>
            <a:pPr marL="0" indent="0" algn="ctr">
              <a:buNone/>
            </a:pPr>
            <a:r>
              <a:rPr lang="en-US" sz="11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not yet sold.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29400" y="3794760"/>
            <a:ext cx="5059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UNSOLD CATEGORIES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29400" y="4096512"/>
            <a:ext cx="313681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Intimates</a:t>
            </a:r>
            <a:endParaRPr lang="en-US" sz="1100" b="1" dirty="0"/>
          </a:p>
        </p:txBody>
      </p:sp>
      <p:sp>
        <p:nvSpPr>
          <p:cNvPr id="29" name="Text 27"/>
          <p:cNvSpPr/>
          <p:nvPr/>
        </p:nvSpPr>
        <p:spPr>
          <a:xfrm>
            <a:off x="9665025" y="4096512"/>
            <a:ext cx="20237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25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22,509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29400" y="4434840"/>
            <a:ext cx="313681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Jeans</a:t>
            </a:r>
            <a:endParaRPr lang="en-US" sz="1100" b="1" dirty="0"/>
          </a:p>
        </p:txBody>
      </p:sp>
      <p:sp>
        <p:nvSpPr>
          <p:cNvPr id="31" name="Text 29"/>
          <p:cNvSpPr/>
          <p:nvPr/>
        </p:nvSpPr>
        <p:spPr>
          <a:xfrm>
            <a:off x="9665025" y="4434840"/>
            <a:ext cx="20237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25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21,620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29400" y="4773168"/>
            <a:ext cx="313681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 &amp; Tees</a:t>
            </a:r>
            <a:endParaRPr lang="en-US" sz="1100" b="1" dirty="0"/>
          </a:p>
        </p:txBody>
      </p:sp>
      <p:sp>
        <p:nvSpPr>
          <p:cNvPr id="33" name="Text 31"/>
          <p:cNvSpPr/>
          <p:nvPr/>
        </p:nvSpPr>
        <p:spPr>
          <a:xfrm>
            <a:off x="9665025" y="4773168"/>
            <a:ext cx="20237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25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20,287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29400" y="5276088"/>
            <a:ext cx="5059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reviewing replenishment/markdown strategy for these categories </a:t>
            </a:r>
          </a:p>
          <a:p>
            <a:pPr marL="0" indent="0">
              <a:buNone/>
            </a:pPr>
            <a:r>
              <a:rPr lang="en-US" sz="105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inventory age data is available.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TheLook E-commerce  |  SQL-Driven Business &amp; Decision Analytics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488375" y="65288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through 18-Aug-2026   ·   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Matters Most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594506" cy="1979676"/>
          </a:xfrm>
          <a:prstGeom prst="roundRect">
            <a:avLst>
              <a:gd name="adj" fmla="val 3695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9224" y="17830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5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9224" y="2221992"/>
            <a:ext cx="33018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customers are worth 2.5x a one-time buyer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9224" y="2770632"/>
            <a:ext cx="33018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</a:t>
            </a:r>
            <a:r>
              <a:rPr lang="en-US" sz="100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$216.49 vs. $86.36 avg. revenue/customer</a:t>
            </a:r>
            <a:endParaRPr lang="en-US" sz="1000" b="1" dirty="0"/>
          </a:p>
        </p:txBody>
      </p:sp>
      <p:sp>
        <p:nvSpPr>
          <p:cNvPr id="8" name="Text 6"/>
          <p:cNvSpPr/>
          <p:nvPr/>
        </p:nvSpPr>
        <p:spPr>
          <a:xfrm>
            <a:off x="649224" y="3104388"/>
            <a:ext cx="330189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</a:t>
            </a:r>
            <a:r>
              <a:rPr lang="en-US" sz="1000" i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is a major, quantified value lever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8594" y="1691640"/>
            <a:ext cx="3594506" cy="1979676"/>
          </a:xfrm>
          <a:prstGeom prst="roundRect">
            <a:avLst>
              <a:gd name="adj" fmla="val 3695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444898" y="17830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5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444898" y="2221992"/>
            <a:ext cx="33018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concentrated in two categories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44898" y="2770632"/>
            <a:ext cx="33018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</a:t>
            </a:r>
            <a:r>
              <a:rPr lang="en-US" sz="100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Outerwear &amp; Coats + Jeans = 23.97% of revenue</a:t>
            </a:r>
            <a:endParaRPr lang="en-US" sz="1000" b="1" dirty="0"/>
          </a:p>
        </p:txBody>
      </p:sp>
      <p:sp>
        <p:nvSpPr>
          <p:cNvPr id="13" name="Text 11"/>
          <p:cNvSpPr/>
          <p:nvPr/>
        </p:nvSpPr>
        <p:spPr>
          <a:xfrm>
            <a:off x="4444898" y="3104388"/>
            <a:ext cx="330189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</a:t>
            </a:r>
            <a:r>
              <a:rPr lang="en-US" sz="1000" i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availability; manage concentration risk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94269" y="1691640"/>
            <a:ext cx="3594506" cy="1979676"/>
          </a:xfrm>
          <a:prstGeom prst="roundRect">
            <a:avLst>
              <a:gd name="adj" fmla="val 3695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240573" y="17830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5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40573" y="2221992"/>
            <a:ext cx="33018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leadership ≠ margin leadership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40573" y="2770632"/>
            <a:ext cx="33018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</a:t>
            </a:r>
            <a:r>
              <a:rPr lang="en-US" sz="100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 category ranks 8th of 26 by margin</a:t>
            </a:r>
            <a:endParaRPr lang="en-US" sz="1000" b="1" dirty="0"/>
          </a:p>
        </p:txBody>
      </p:sp>
      <p:sp>
        <p:nvSpPr>
          <p:cNvPr id="18" name="Text 16"/>
          <p:cNvSpPr/>
          <p:nvPr/>
        </p:nvSpPr>
        <p:spPr>
          <a:xfrm>
            <a:off x="8240573" y="3104388"/>
            <a:ext cx="330189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</a:t>
            </a:r>
            <a:r>
              <a:rPr lang="en-US" sz="1000" i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 margin, not just revenue, in prioritization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872484"/>
            <a:ext cx="3594506" cy="1979676"/>
          </a:xfrm>
          <a:prstGeom prst="roundRect">
            <a:avLst>
              <a:gd name="adj" fmla="val 3695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9224" y="396392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5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9224" y="4402836"/>
            <a:ext cx="33018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are broad-based, not category-specific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9224" y="4951476"/>
            <a:ext cx="33018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</a:t>
            </a:r>
            <a:r>
              <a:rPr lang="en-US" sz="100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rates cluster tightly: 9.09% - 10.81%</a:t>
            </a:r>
            <a:endParaRPr lang="en-US" sz="1000" b="1" dirty="0"/>
          </a:p>
        </p:txBody>
      </p:sp>
      <p:sp>
        <p:nvSpPr>
          <p:cNvPr id="23" name="Text 21"/>
          <p:cNvSpPr/>
          <p:nvPr/>
        </p:nvSpPr>
        <p:spPr>
          <a:xfrm>
            <a:off x="649224" y="5285232"/>
            <a:ext cx="330189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</a:t>
            </a:r>
            <a:r>
              <a:rPr lang="en-US" sz="1000" i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platform-wide, not category-targeted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8594" y="3872484"/>
            <a:ext cx="3594506" cy="1979676"/>
          </a:xfrm>
          <a:prstGeom prst="roundRect">
            <a:avLst>
              <a:gd name="adj" fmla="val 3695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444898" y="396392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5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444898" y="4402836"/>
            <a:ext cx="33018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dominates acquisition, converts slightly lower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444898" y="4951476"/>
            <a:ext cx="33018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</a:t>
            </a:r>
            <a:r>
              <a:rPr lang="en-US" sz="100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69.63% of revenue at 79.91% conversion</a:t>
            </a:r>
            <a:endParaRPr lang="en-US" sz="1000" b="1" dirty="0"/>
          </a:p>
        </p:txBody>
      </p:sp>
      <p:sp>
        <p:nvSpPr>
          <p:cNvPr id="28" name="Text 26"/>
          <p:cNvSpPr/>
          <p:nvPr/>
        </p:nvSpPr>
        <p:spPr>
          <a:xfrm>
            <a:off x="4444898" y="5285232"/>
            <a:ext cx="330189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</a:t>
            </a:r>
            <a:r>
              <a:rPr lang="en-US" sz="1000" i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traffic-quality gap on the largest channel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94269" y="3872484"/>
            <a:ext cx="3594506" cy="1979676"/>
          </a:xfrm>
          <a:prstGeom prst="roundRect">
            <a:avLst>
              <a:gd name="adj" fmla="val 3695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240573" y="396392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5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240573" y="4402836"/>
            <a:ext cx="33018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sell-through is well below half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240573" y="4951476"/>
            <a:ext cx="33018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</a:t>
            </a:r>
            <a:r>
              <a:rPr lang="en-US" sz="100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37.05% sold (180,919 of 488,373 units)</a:t>
            </a:r>
            <a:endParaRPr lang="en-US" sz="1000" b="1" dirty="0"/>
          </a:p>
        </p:txBody>
      </p:sp>
      <p:sp>
        <p:nvSpPr>
          <p:cNvPr id="33" name="Text 31"/>
          <p:cNvSpPr/>
          <p:nvPr/>
        </p:nvSpPr>
        <p:spPr>
          <a:xfrm>
            <a:off x="8240573" y="5285232"/>
            <a:ext cx="330189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</a:t>
            </a:r>
            <a:r>
              <a:rPr lang="en-US" sz="1000" i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replenishment for slow-moving categories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TheLook E-commerce  |  SQL-Driven Business &amp; Decision Analytics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488375" y="65288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through 18-Aug-2026   ·   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Prioritized Business Actions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63040" y="16002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834640" y="16002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0" y="16002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778240" y="1600200"/>
            <a:ext cx="2910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039112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E258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203911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463040" y="1947672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834640" y="1947672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customers generate 2.5x more revenue/customer</a:t>
            </a:r>
            <a:endParaRPr lang="en-US" sz="1000" b="1" dirty="0"/>
          </a:p>
        </p:txBody>
      </p:sp>
      <p:sp>
        <p:nvSpPr>
          <p:cNvPr id="13" name="Text 11"/>
          <p:cNvSpPr/>
          <p:nvPr/>
        </p:nvSpPr>
        <p:spPr>
          <a:xfrm>
            <a:off x="5669280" y="1947672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retention &amp; repeat-purchase campaigns</a:t>
            </a:r>
            <a:endParaRPr lang="en-US" sz="1000" b="1" dirty="0"/>
          </a:p>
        </p:txBody>
      </p:sp>
      <p:sp>
        <p:nvSpPr>
          <p:cNvPr id="14" name="Text 12"/>
          <p:cNvSpPr/>
          <p:nvPr/>
        </p:nvSpPr>
        <p:spPr>
          <a:xfrm>
            <a:off x="8778240" y="1947672"/>
            <a:ext cx="2910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repeat revenue share</a:t>
            </a:r>
            <a:endParaRPr lang="en-US" sz="1000" b="1" dirty="0"/>
          </a:p>
        </p:txBody>
      </p:sp>
      <p:sp>
        <p:nvSpPr>
          <p:cNvPr id="15" name="Shape 13"/>
          <p:cNvSpPr/>
          <p:nvPr/>
        </p:nvSpPr>
        <p:spPr>
          <a:xfrm>
            <a:off x="502920" y="2606040"/>
            <a:ext cx="11185855" cy="0"/>
          </a:xfrm>
          <a:prstGeom prst="line">
            <a:avLst/>
          </a:prstGeom>
          <a:noFill/>
          <a:ln w="9525">
            <a:solidFill>
              <a:srgbClr val="E4DF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02920" y="269748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E258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02920" y="26974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463040" y="2606040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Strategy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834640" y="2606040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 categories = 23.97% of revenue</a:t>
            </a:r>
            <a:endParaRPr lang="en-US" sz="1000" b="1" dirty="0"/>
          </a:p>
        </p:txBody>
      </p:sp>
      <p:sp>
        <p:nvSpPr>
          <p:cNvPr id="20" name="Text 18"/>
          <p:cNvSpPr/>
          <p:nvPr/>
        </p:nvSpPr>
        <p:spPr>
          <a:xfrm>
            <a:off x="5669280" y="260604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inventory &amp; marketing for core categories</a:t>
            </a:r>
            <a:endParaRPr lang="en-US" sz="1000" b="1" dirty="0"/>
          </a:p>
        </p:txBody>
      </p:sp>
      <p:sp>
        <p:nvSpPr>
          <p:cNvPr id="21" name="Text 19"/>
          <p:cNvSpPr/>
          <p:nvPr/>
        </p:nvSpPr>
        <p:spPr>
          <a:xfrm>
            <a:off x="8778240" y="2606040"/>
            <a:ext cx="2910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primary revenue drivers</a:t>
            </a:r>
            <a:endParaRPr lang="en-US" sz="1000" b="1" dirty="0"/>
          </a:p>
        </p:txBody>
      </p:sp>
      <p:sp>
        <p:nvSpPr>
          <p:cNvPr id="22" name="Shape 20"/>
          <p:cNvSpPr/>
          <p:nvPr/>
        </p:nvSpPr>
        <p:spPr>
          <a:xfrm>
            <a:off x="502920" y="3264408"/>
            <a:ext cx="11185855" cy="0"/>
          </a:xfrm>
          <a:prstGeom prst="line">
            <a:avLst/>
          </a:prstGeom>
          <a:noFill/>
          <a:ln w="9525">
            <a:solidFill>
              <a:srgbClr val="E4DF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02920" y="3355848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02920" y="335584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463040" y="3264408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834640" y="3264408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varies 37.8% - 62.0% across categories</a:t>
            </a:r>
            <a:endParaRPr lang="en-US" sz="1000" b="1" dirty="0"/>
          </a:p>
        </p:txBody>
      </p:sp>
      <p:sp>
        <p:nvSpPr>
          <p:cNvPr id="27" name="Text 25"/>
          <p:cNvSpPr/>
          <p:nvPr/>
        </p:nvSpPr>
        <p:spPr>
          <a:xfrm>
            <a:off x="5669280" y="326440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 margin alongside revenue in investment calls</a:t>
            </a:r>
            <a:endParaRPr lang="en-US" sz="1000" b="1" dirty="0"/>
          </a:p>
        </p:txBody>
      </p:sp>
      <p:sp>
        <p:nvSpPr>
          <p:cNvPr id="28" name="Text 26"/>
          <p:cNvSpPr/>
          <p:nvPr/>
        </p:nvSpPr>
        <p:spPr>
          <a:xfrm>
            <a:off x="8778240" y="3264408"/>
            <a:ext cx="2910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blended profit margin</a:t>
            </a:r>
            <a:endParaRPr lang="en-US" sz="1000" b="1" dirty="0"/>
          </a:p>
        </p:txBody>
      </p:sp>
      <p:sp>
        <p:nvSpPr>
          <p:cNvPr id="29" name="Shape 27"/>
          <p:cNvSpPr/>
          <p:nvPr/>
        </p:nvSpPr>
        <p:spPr>
          <a:xfrm>
            <a:off x="502920" y="3922776"/>
            <a:ext cx="11185855" cy="0"/>
          </a:xfrm>
          <a:prstGeom prst="line">
            <a:avLst/>
          </a:prstGeom>
          <a:noFill/>
          <a:ln w="9525">
            <a:solidFill>
              <a:srgbClr val="E4DF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02920" y="4014216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02920" y="401421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463040" y="3922776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2834640" y="3922776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rates consistent across categories </a:t>
            </a:r>
          </a:p>
          <a:p>
            <a:pPr marL="0" indent="0" algn="l">
              <a:buNone/>
            </a:pPr>
            <a:r>
              <a:rPr lang="en-US" sz="100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(9% - 11%)</a:t>
            </a:r>
            <a:endParaRPr lang="en-US" sz="1000" b="1" dirty="0"/>
          </a:p>
        </p:txBody>
      </p:sp>
      <p:sp>
        <p:nvSpPr>
          <p:cNvPr id="34" name="Text 32"/>
          <p:cNvSpPr/>
          <p:nvPr/>
        </p:nvSpPr>
        <p:spPr>
          <a:xfrm>
            <a:off x="5669280" y="3922776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causes platform-wide, not by category</a:t>
            </a:r>
            <a:endParaRPr lang="en-US" sz="1000" b="1" dirty="0"/>
          </a:p>
        </p:txBody>
      </p:sp>
      <p:sp>
        <p:nvSpPr>
          <p:cNvPr id="35" name="Text 33"/>
          <p:cNvSpPr/>
          <p:nvPr/>
        </p:nvSpPr>
        <p:spPr>
          <a:xfrm>
            <a:off x="8778240" y="3922776"/>
            <a:ext cx="2910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return-related revenue leakage</a:t>
            </a:r>
            <a:endParaRPr lang="en-US" sz="1000" b="1" dirty="0"/>
          </a:p>
        </p:txBody>
      </p:sp>
      <p:sp>
        <p:nvSpPr>
          <p:cNvPr id="36" name="Shape 34"/>
          <p:cNvSpPr/>
          <p:nvPr/>
        </p:nvSpPr>
        <p:spPr>
          <a:xfrm>
            <a:off x="502920" y="4581144"/>
            <a:ext cx="11185855" cy="0"/>
          </a:xfrm>
          <a:prstGeom prst="line">
            <a:avLst/>
          </a:prstGeom>
          <a:noFill/>
          <a:ln w="9525">
            <a:solidFill>
              <a:srgbClr val="E4DF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502920" y="4672584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6B64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02920" y="467258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463040" y="4581144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2834640" y="4581144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converts marginally lower than smaller channels</a:t>
            </a:r>
            <a:endParaRPr lang="en-US" sz="1000" b="1" dirty="0"/>
          </a:p>
        </p:txBody>
      </p:sp>
      <p:sp>
        <p:nvSpPr>
          <p:cNvPr id="41" name="Text 39"/>
          <p:cNvSpPr/>
          <p:nvPr/>
        </p:nvSpPr>
        <p:spPr>
          <a:xfrm>
            <a:off x="5669280" y="4581144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traffic-quality gap on largest channel</a:t>
            </a:r>
            <a:endParaRPr lang="en-US" sz="1000" b="1" dirty="0"/>
          </a:p>
        </p:txBody>
      </p:sp>
      <p:sp>
        <p:nvSpPr>
          <p:cNvPr id="42" name="Text 40"/>
          <p:cNvSpPr/>
          <p:nvPr/>
        </p:nvSpPr>
        <p:spPr>
          <a:xfrm>
            <a:off x="8778240" y="4581144"/>
            <a:ext cx="2910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conversion on largest channel</a:t>
            </a:r>
            <a:endParaRPr lang="en-US" sz="1000" b="1" dirty="0"/>
          </a:p>
        </p:txBody>
      </p:sp>
      <p:sp>
        <p:nvSpPr>
          <p:cNvPr id="43" name="Shape 41"/>
          <p:cNvSpPr/>
          <p:nvPr/>
        </p:nvSpPr>
        <p:spPr>
          <a:xfrm>
            <a:off x="502920" y="5239512"/>
            <a:ext cx="11185855" cy="0"/>
          </a:xfrm>
          <a:prstGeom prst="line">
            <a:avLst/>
          </a:prstGeom>
          <a:noFill/>
          <a:ln w="9525">
            <a:solidFill>
              <a:srgbClr val="E4DF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502920" y="5330952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6B64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02920" y="53309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463040" y="5239512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2834640" y="5239512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2026: +45% revenue MoM, repeat rate fell sharply</a:t>
            </a:r>
            <a:endParaRPr lang="en-US" sz="1000" b="1" dirty="0"/>
          </a:p>
        </p:txBody>
      </p:sp>
      <p:sp>
        <p:nvSpPr>
          <p:cNvPr id="48" name="Text 46"/>
          <p:cNvSpPr/>
          <p:nvPr/>
        </p:nvSpPr>
        <p:spPr>
          <a:xfrm>
            <a:off x="5669280" y="5239512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before use in any forward-looking narrative</a:t>
            </a:r>
            <a:endParaRPr lang="en-US" sz="1000" b="1" dirty="0"/>
          </a:p>
        </p:txBody>
      </p:sp>
      <p:sp>
        <p:nvSpPr>
          <p:cNvPr id="49" name="Text 47"/>
          <p:cNvSpPr/>
          <p:nvPr/>
        </p:nvSpPr>
        <p:spPr>
          <a:xfrm>
            <a:off x="8778240" y="5239512"/>
            <a:ext cx="2910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reporting accuracy</a:t>
            </a:r>
            <a:endParaRPr lang="en-US" sz="1000" b="1" dirty="0"/>
          </a:p>
        </p:txBody>
      </p:sp>
      <p:sp>
        <p:nvSpPr>
          <p:cNvPr id="50" name="Text 48"/>
          <p:cNvSpPr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TheLook E-commerce  |  SQL-Driven Business &amp; Decision Analytics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488375" y="65288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through 18-Aug-2026   ·   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LIMITATIONS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E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Supports and What It Doesn't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2127443" cy="868680"/>
          </a:xfrm>
          <a:prstGeom prst="roundRect">
            <a:avLst>
              <a:gd name="adj" fmla="val 6316"/>
            </a:avLst>
          </a:prstGeom>
          <a:solidFill>
            <a:srgbClr val="F6F2ED"/>
          </a:solidFill>
          <a:ln w="9525">
            <a:solidFill>
              <a:srgbClr val="E4DF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1700784"/>
            <a:ext cx="19445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194456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TheLook E-commerce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(public dataset)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67523" y="1645920"/>
            <a:ext cx="2127443" cy="868680"/>
          </a:xfrm>
          <a:prstGeom prst="roundRect">
            <a:avLst>
              <a:gd name="adj" fmla="val 6316"/>
            </a:avLst>
          </a:prstGeom>
          <a:solidFill>
            <a:srgbClr val="F6F2ED"/>
          </a:solidFill>
          <a:ln w="9525">
            <a:solidFill>
              <a:srgbClr val="E4DF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858963" y="1700784"/>
            <a:ext cx="19445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858963" y="1920240"/>
            <a:ext cx="194456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BigQuery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32126" y="1645920"/>
            <a:ext cx="2127443" cy="868680"/>
          </a:xfrm>
          <a:prstGeom prst="roundRect">
            <a:avLst>
              <a:gd name="adj" fmla="val 6316"/>
            </a:avLst>
          </a:prstGeom>
          <a:solidFill>
            <a:srgbClr val="F6F2ED"/>
          </a:solidFill>
          <a:ln w="9525">
            <a:solidFill>
              <a:srgbClr val="E4DF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123566" y="1700784"/>
            <a:ext cx="19445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123566" y="1920240"/>
            <a:ext cx="194456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business questions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296729" y="1645920"/>
            <a:ext cx="2127443" cy="868680"/>
          </a:xfrm>
          <a:prstGeom prst="roundRect">
            <a:avLst>
              <a:gd name="adj" fmla="val 6316"/>
            </a:avLst>
          </a:prstGeom>
          <a:solidFill>
            <a:srgbClr val="F6F2ED"/>
          </a:solidFill>
          <a:ln w="9525">
            <a:solidFill>
              <a:srgbClr val="E4DF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388169" y="1700784"/>
            <a:ext cx="19445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LAYER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388169" y="1920240"/>
            <a:ext cx="194456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high-value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561332" y="1645920"/>
            <a:ext cx="2127443" cy="868680"/>
          </a:xfrm>
          <a:prstGeom prst="roundRect">
            <a:avLst>
              <a:gd name="adj" fmla="val 6316"/>
            </a:avLst>
          </a:prstGeom>
          <a:solidFill>
            <a:srgbClr val="F6F2ED"/>
          </a:solidFill>
          <a:ln w="9525">
            <a:solidFill>
              <a:srgbClr val="E4DF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652772" y="1700784"/>
            <a:ext cx="19445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A84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CUTOFF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652772" y="1920240"/>
            <a:ext cx="194456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August 2026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2788920"/>
            <a:ext cx="5455768" cy="3246120"/>
          </a:xfrm>
          <a:prstGeom prst="roundRect">
            <a:avLst>
              <a:gd name="adj" fmla="val 2254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04088" y="2953512"/>
            <a:ext cx="505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E25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SUPPORTS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4088" y="3355848"/>
            <a:ext cx="505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E25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performance (revenue, orders, AOV)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04088" y="3721608"/>
            <a:ext cx="505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E25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 &amp; segmentation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04088" y="4087368"/>
            <a:ext cx="505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E25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retention trends over time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04088" y="4453128"/>
            <a:ext cx="505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E25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product performance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04088" y="4818888"/>
            <a:ext cx="505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E25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by category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04088" y="5184648"/>
            <a:ext cx="505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E25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Return-rate patterns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04088" y="5550408"/>
            <a:ext cx="505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E25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comparison across centers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33008" y="2788920"/>
            <a:ext cx="5455768" cy="3246120"/>
          </a:xfrm>
          <a:prstGeom prst="roundRect">
            <a:avLst>
              <a:gd name="adj" fmla="val 2254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434176" y="2953512"/>
            <a:ext cx="505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E25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NOT ESTABLISH</a:t>
            </a:r>
            <a:endParaRPr lang="en-US" sz="1200" dirty="0">
              <a:solidFill>
                <a:srgbClr val="E2583A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34176" y="3355848"/>
            <a:ext cx="505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r>
              <a:rPr lang="en-US" sz="115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explanations for revenue changes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34176" y="3721608"/>
            <a:ext cx="505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r>
              <a:rPr lang="en-US" sz="115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ROI / CAC (no spend data exists)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34176" y="4087368"/>
            <a:ext cx="505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r>
              <a:rPr lang="en-US" sz="115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for product returns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34176" y="4453128"/>
            <a:ext cx="505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r>
              <a:rPr lang="en-US" sz="115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34176" y="4818888"/>
            <a:ext cx="505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r>
              <a:rPr lang="en-US" sz="115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performance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434176" y="5184648"/>
            <a:ext cx="505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r>
              <a:rPr lang="en-US" sz="1150" b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market factors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02920" y="617220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reflect the public TheLook E-commerce dataset and query outputs available through 18 August 2026. Results may differ if the underlying dataset changes.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TheLook E-commerce  |  SQL-Driven Business &amp; Decision Analytics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488375" y="65288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through 18-Aug-2026   ·   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E2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-2103120"/>
            <a:ext cx="3108960" cy="3108960"/>
          </a:xfrm>
          <a:prstGeom prst="roundRect">
            <a:avLst>
              <a:gd name="adj" fmla="val 11765"/>
            </a:avLst>
          </a:prstGeom>
          <a:solidFill>
            <a:srgbClr val="A8462B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058400" y="4937760"/>
            <a:ext cx="3108960" cy="3108960"/>
          </a:xfrm>
          <a:prstGeom prst="roundRect">
            <a:avLst>
              <a:gd name="adj" fmla="val 11765"/>
            </a:avLst>
          </a:prstGeom>
          <a:solidFill>
            <a:srgbClr val="E2583A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SQL TO BUSINESS DECISIONS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2651760"/>
            <a:ext cx="1871411" cy="914400"/>
          </a:xfrm>
          <a:prstGeom prst="roundRect">
            <a:avLst>
              <a:gd name="adj" fmla="val 8000"/>
            </a:avLst>
          </a:prstGeom>
          <a:solidFill>
            <a:srgbClr val="3D3730"/>
          </a:solidFill>
          <a:ln w="12700">
            <a:solidFill>
              <a:srgbClr val="554E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2651760"/>
            <a:ext cx="168853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Business Questions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374331" y="265176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A9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31531" y="2651760"/>
            <a:ext cx="1871411" cy="914400"/>
          </a:xfrm>
          <a:prstGeom prst="roundRect">
            <a:avLst>
              <a:gd name="adj" fmla="val 8000"/>
            </a:avLst>
          </a:prstGeom>
          <a:solidFill>
            <a:srgbClr val="3D3730"/>
          </a:solidFill>
          <a:ln w="12700">
            <a:solidFill>
              <a:srgbClr val="554E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922971" y="2651760"/>
            <a:ext cx="168853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SQL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02942" y="265176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A9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160142" y="2651760"/>
            <a:ext cx="1871411" cy="914400"/>
          </a:xfrm>
          <a:prstGeom prst="roundRect">
            <a:avLst>
              <a:gd name="adj" fmla="val 8000"/>
            </a:avLst>
          </a:prstGeom>
          <a:solidFill>
            <a:srgbClr val="3D3730"/>
          </a:solidFill>
          <a:ln w="12700">
            <a:solidFill>
              <a:srgbClr val="554E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251582" y="2651760"/>
            <a:ext cx="168853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Evidence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031553" y="265176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A9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88753" y="2651760"/>
            <a:ext cx="1871411" cy="914400"/>
          </a:xfrm>
          <a:prstGeom prst="roundRect">
            <a:avLst>
              <a:gd name="adj" fmla="val 8000"/>
            </a:avLst>
          </a:prstGeom>
          <a:solidFill>
            <a:srgbClr val="3D3730"/>
          </a:solidFill>
          <a:ln w="12700">
            <a:solidFill>
              <a:srgbClr val="554E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580193" y="2651760"/>
            <a:ext cx="168853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360164" y="265176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A9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817364" y="2651760"/>
            <a:ext cx="1871411" cy="914400"/>
          </a:xfrm>
          <a:prstGeom prst="roundRect">
            <a:avLst>
              <a:gd name="adj" fmla="val 8000"/>
            </a:avLst>
          </a:prstGeom>
          <a:solidFill>
            <a:srgbClr val="E2583A"/>
          </a:solidFill>
          <a:ln w="12700">
            <a:solidFill>
              <a:srgbClr val="E258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908804" y="2651760"/>
            <a:ext cx="168853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Actions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384048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D9D2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Demonstrating how SQL can move beyond querying data to support structured business decision-making.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through 18 August 2026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59575" y="6126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9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github.com/AYUSHKUMARSAHOO04/thelookecommerce_sql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2556</Words>
  <Application>Microsoft Office PowerPoint</Application>
  <PresentationFormat>Widescreen</PresentationFormat>
  <Paragraphs>339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TheLook E-commerce Business Analytics</dc:title>
  <dc:subject>SQL-Driven Business &amp; Decision Analytics</dc:subject>
  <dc:creator>TheLook E-commerce Analytics</dc:creator>
  <cp:lastModifiedBy>122CH0050 (AYUSHKUMAR SAHOO)</cp:lastModifiedBy>
  <cp:revision>11</cp:revision>
  <dcterms:created xsi:type="dcterms:W3CDTF">2026-08-19T00:54:40Z</dcterms:created>
  <dcterms:modified xsi:type="dcterms:W3CDTF">2026-08-19T12:36:22Z</dcterms:modified>
</cp:coreProperties>
</file>